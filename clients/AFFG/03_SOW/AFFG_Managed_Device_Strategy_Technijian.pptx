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Proposes replacing VDI with company-managed laptops and CloudBrink ZTNA for all 9 AFFG users.</a:t>
            </a:r>
          </a:p>
          <a:p>
            <a:r>
              <a:t>- Same FINRA/SEC compliance posture. Every control maps to a specific citation.</a:t>
            </a:r>
          </a:p>
          <a:p>
            <a:r>
              <a:t>- Users get native laptop performance, work securely from any location.</a:t>
            </a:r>
          </a:p>
          <a:p>
            <a:r>
              <a:t>- All 9 users receive company laptop + company phone, both Intune-managed.</a:t>
            </a:r>
          </a:p>
          <a:p>
            <a:r>
              <a:t>- No additional M365 licensing - Intune included in E3.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THE SHIFT: Datacenter VDI to company-owned managed devices. Endpoint becomes the controlled boundary.</a:t>
            </a:r>
          </a:p>
          <a:p>
            <a:r>
              <a:t>- THE CHALLENGE: How to protect data when laptop travels. CloudBrink verifies device + user regardless of network.</a:t>
            </a:r>
          </a:p>
          <a:p>
            <a:r>
              <a:t>- THE DESIGN: Seven enforcement layers. Each maps to a regulatory citation. No VDI hosting cost. Intune in E3.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Master reference. Every component maps to a FINRA/SEC citation.</a:t>
            </a:r>
          </a:p>
          <a:p>
            <a:r>
              <a:t>- If it can't be tied to a citation, it's not in the proposal.</a:t>
            </a:r>
          </a:p>
          <a:p>
            <a:r>
              <a:t>- Conditional Access + legacy auth block is HOW we restrict M365 to company devices.</a:t>
            </a:r>
          </a:p>
          <a:p>
            <a:r>
              <a:t>- Veeam unchanged from VDI proposal - backs up tenant, not endpoint.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Enrollment: Autopilot, BitLocker enforced before data access.</a:t>
            </a:r>
          </a:p>
          <a:p>
            <a:r>
              <a:t>- Conditional Access: four-factor boundary. Stolen credentials + MFA still blocked without compliant device.</a:t>
            </a:r>
          </a:p>
          <a:p>
            <a:r>
              <a:t>- Examiner Optic: Intune portal is cleaner evidence than VDI session logs.</a:t>
            </a:r>
          </a:p>
          <a:p>
            <a:r>
              <a:t>- Lost laptop: BitLocker protects data at rest + remote wipe. Equivalent to VDI "no data on device."</a:t>
            </a:r>
          </a:p>
          <a:p>
            <a:r>
              <a:t>- No additional licensing: Intune in existing E3.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POINTS - CRITICAL CONFIGURATION:</a:t>
            </a:r>
          </a:p>
          <a:p>
            <a:r>
              <a:t>POLICY 1: Entra ID CA policy targeting M365 apps. Grant = "Require compliant device." Blocks OWA from personal laptop, Outlook from personal phone, OneDrive web from unmanaged browser.</a:t>
            </a:r>
          </a:p>
          <a:p>
            <a:r>
              <a:t>POLICY 2 (CRITICAL): Legacy auth bypasses CA entirely. Without this, IMAP/POP3 on personal phone pulls all email. Must block "Other clients" + "Exchange ActiveSync."</a:t>
            </a:r>
          </a:p>
          <a:p>
            <a:r>
              <a:t>POLICY 3: Even on compliant phones, data stays containerized. No copy to WhatsApp, no save to personal storage.</a:t>
            </a:r>
          </a:p>
          <a:p>
            <a:r>
              <a:t>IMPLEMENTATION ORDER: 1) Set up compliance policies, 2) Enroll devices, 3) Enable legacy auth block, 4) Enable CA in report-only 48hrs, 5) Enforce, 6) Deploy MAM, 7)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CloudBrink is the key change enabling managed devices for a traveling workforce.</a:t>
            </a:r>
          </a:p>
          <a:p>
            <a:r>
              <a:t>- HOW IT WORKS: Agent verifies device + user before any connection. Encrypted, per-app access.</a:t>
            </a:r>
          </a:p>
          <a:p>
            <a:r>
              <a:t>- WHY NOT IP WHITELIST: Works in office, breaks when traveling. CloudBrink eliminates this.</a:t>
            </a:r>
          </a:p>
          <a:p>
            <a:r>
              <a:t>- WHAT IT REPLACES: IP whitelist, VPN. Security is stronger - validates device, not network.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Head-to-head. Walk through each row.</a:t>
            </a:r>
          </a:p>
          <a:p>
            <a:r>
              <a:t>- Access control: device posture &gt; IP address. Validates what the device IS, not where it is.</a:t>
            </a:r>
          </a:p>
          <a:p>
            <a:r>
              <a:t>- Travel: managed devices win. No lockouts, no exceptions.</a:t>
            </a:r>
          </a:p>
          <a:p>
            <a:r>
              <a:t>- Device loss: BitLocker + remote wipe compensates. Equivalent outcome.</a:t>
            </a:r>
          </a:p>
          <a:p>
            <a:r>
              <a:t>- User experience: pure improvement, no compliance trade-off.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All 9 users get company phones. Phone with Outlook = regulated data.</a:t>
            </a:r>
          </a:p>
          <a:p>
            <a:r>
              <a:t>- MDM: Must enroll before M365 activates. No enrollment = no email.</a:t>
            </a:r>
          </a:p>
          <a:p>
            <a:r>
              <a:t>- MAM: Managed container. No copy to WhatsApp, no save to personal storage.</a:t>
            </a:r>
          </a:p>
          <a:p>
            <a:r>
              <a:t>- Remote wipe: selective (corp data only) or full. Auto on jailbreak.</a:t>
            </a:r>
          </a:p>
          <a:p>
            <a:r>
              <a:t>- Monthly audit: added to existing assessment, no extra cost. Intune MDM/MAM in E3.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M365 DLP = cloud-side. MyAudit = device-side. Complementary, not duplicative.</a:t>
            </a:r>
          </a:p>
          <a:p>
            <a:r>
              <a:t>- Without MyAudit, first five rows uncontrolled. User downloads to USB and walks out.</a:t>
            </a:r>
          </a:p>
          <a:p>
            <a:r>
              <a:t>- Same as VDI proposal. Same agent, same policies, same blocks.</a:t>
            </a:r>
          </a:p>
          <a:p>
            <a:r>
              <a:t>- SEC exam letters have cited firms with M365 DLP but missing endpoint DLP.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Unchanged from VDI proposal. Veeam backs up tenant, not endpoint.</a:t>
            </a:r>
          </a:p>
          <a:p>
            <a:r>
              <a:t>- M365 retention is INSIDE the tenant. If tenant is compromised, retention is part of the attack surface.</a:t>
            </a:r>
          </a:p>
          <a:p>
            <a:r>
              <a:t>- SEC 17a-4(f) requires non-rewriteable, non-erasable preservation. Microsoft retention alone doesn't meet this.</a:t>
            </a:r>
          </a:p>
          <a:p>
            <a:r>
              <a:t>- $100/month storage is the independent backup repository.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Same $50/mo, expanded scope: device fleet, CloudBrink, mobile audit.</a:t>
            </a:r>
          </a:p>
          <a:p>
            <a:r>
              <a:t>- Monthly = cleanest FINRA 3110(c) evidence. Quarterly = minimum acceptable.</a:t>
            </a:r>
          </a:p>
          <a:p>
            <a:r>
              <a:t>- New: Intune device compliance (18 devices total) and CloudBrink posture replace VDI monitoring.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Walk through "If Removed" column. Each layer has a unique regulatory gap it closes.</a:t>
            </a:r>
          </a:p>
          <a:p>
            <a:r>
              <a:t>- Conditional Access: without it, personal devices access email via OWA or legacy auth.</a:t>
            </a:r>
          </a:p>
          <a:p>
            <a:r>
              <a:t>- Every layer has a cite-able FINRA/SEC requirement behind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REMOVED: VDI hosting.</a:t>
            </a:r>
          </a:p>
          <a:p>
            <a:r>
              <a:t>- ADDED: CloudBrink ZTNA, company phones with Intune, Conditional Access policies.</a:t>
            </a:r>
          </a:p>
          <a:p>
            <a:r>
              <a:t>- RETAINED: MyAudit, SSO/2FA, Veeam, monthly assessment.</a:t>
            </a:r>
          </a:p>
          <a:p>
            <a:r>
              <a:t>- Assessment expanded at no additional cost. Regulatory posture maintained or strengthened.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Four key takeaways: four-factor boundary, one Intune umbrella, travel-ready, citation-mapped.</a:t>
            </a:r>
          </a:p>
          <a:p>
            <a:r>
              <a:t>- CloudBrink is stronger than IP whitelisting.</a:t>
            </a:r>
          </a:p>
          <a:p>
            <a:r>
              <a:t>- Every control has a regulatory requirement behind it.</a:t>
            </a:r>
          </a:p>
          <a:p>
            <a:r>
              <a:t>- NEXT: Iris reviews, proceed to revised proposal with pricing.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echnijian-logo-reverse-white-5000x1667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5760"/>
            <a:ext cx="2377440" cy="7955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82880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Open Sans"/>
              </a:rPr>
              <a:t>AFFG Managed Device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2608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Open Sans"/>
              </a:rPr>
              <a:t>Company Laptops + CloudBrink ZTNA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9ECEF"/>
                </a:solidFill>
                <a:latin typeface="Open Sans"/>
              </a:rPr>
              <a:t>Same FINRA and SEC compliance posture without VDI — enforced by managed endpoints, CloudBrink zero-trust access, and Intune device management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63640"/>
            <a:ext cx="12192000" cy="73152"/>
          </a:xfrm>
          <a:prstGeom prst="rect">
            <a:avLst/>
          </a:prstGeom>
          <a:solidFill>
            <a:srgbClr val="F67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5760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EAAC8"/>
                </a:solidFill>
                <a:latin typeface="Open Sans"/>
              </a:rPr>
              <a:t>technology as a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B"/>
                </a:solidFill>
                <a:latin typeface="Open Sans"/>
              </a:rPr>
              <a:t>Prepared for AFFG  |  April 16,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006D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echnijian-logo-reverse-white-5000x1667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"/>
            <a:ext cx="219456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0" y="3200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Open Sans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6DB6"/>
                </a:solidFill>
                <a:latin typeface="Open Sans"/>
              </a:rPr>
              <a:t>Executive 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309360"/>
            <a:ext cx="10972800" cy="9144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9595B"/>
                </a:solidFill>
                <a:latin typeface="Open Sans"/>
              </a:rPr>
              <a:t>technijian.com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3550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9595B"/>
                </a:solidFill>
                <a:latin typeface="Open Sans"/>
              </a:rPr>
              <a:t>AFFG Managed Device Strategy  |  April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3474720" cy="42519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10312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6DB6"/>
                </a:solidFill>
                <a:latin typeface="Open Sans"/>
              </a:rPr>
              <a:t>The Shift: VDI To Managed Devices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651760"/>
            <a:ext cx="914400" cy="36576"/>
          </a:xfrm>
          <a:prstGeom prst="rect">
            <a:avLst/>
          </a:prstGeom>
          <a:solidFill>
            <a:srgbClr val="F67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88920"/>
            <a:ext cx="292608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59595B"/>
                </a:solidFill>
                <a:latin typeface="Open Sans"/>
              </a:rPr>
              <a:t>Instead of hosting desktops in a datacenter, AFFG provides company-owned laptops and phones to all 9 users.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59595B"/>
                </a:solidFill>
                <a:latin typeface="Open Sans"/>
              </a:rPr>
              <a:t>Data protection moves from "data never leaves the datacenter" to "the device is the controlled boundary."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59595B"/>
                </a:solidFill>
                <a:latin typeface="Open Sans"/>
              </a:rPr>
              <a:t>Same regulatory outcome — different enforcement model, lower complexity, better user experience.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760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EAAC8"/>
                </a:solidFill>
                <a:latin typeface="Open Sans"/>
              </a:rPr>
              <a:t>Reg S-P §248.30(a); FINRA 3110(a)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1920240"/>
            <a:ext cx="3474720" cy="42519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210312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6DB6"/>
                </a:solidFill>
                <a:latin typeface="Open Sans"/>
              </a:rPr>
              <a:t>The Challenge: Access From Anywhere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651760"/>
            <a:ext cx="914400" cy="36576"/>
          </a:xfrm>
          <a:prstGeom prst="rect">
            <a:avLst/>
          </a:prstGeom>
          <a:solidFill>
            <a:srgbClr val="F67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2788920"/>
            <a:ext cx="292608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59595B"/>
                </a:solidFill>
                <a:latin typeface="Open Sans"/>
              </a:rPr>
              <a:t>VDI had a natural boundary: data stayed in the datacenter. Managed laptops travel.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59595B"/>
                </a:solidFill>
                <a:latin typeface="Open Sans"/>
              </a:rPr>
              <a:t>IP whitelisting alone fails when users work from hotels, client sites, or home.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59595B"/>
                </a:solidFill>
                <a:latin typeface="Open Sans"/>
              </a:rPr>
              <a:t>CloudBrink ZTNA replaces the fixed-IP boundary with a device-identity + posture boundary that works from any network.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5760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EAAC8"/>
                </a:solidFill>
                <a:latin typeface="Open Sans"/>
              </a:rPr>
              <a:t>Reg S-P §248.30(a)(3); NIST AC-17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63840" y="1920240"/>
            <a:ext cx="3474720" cy="42519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210312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6DB6"/>
                </a:solidFill>
                <a:latin typeface="Open Sans"/>
              </a:rPr>
              <a:t>The Design: Layered Enforcement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2651760"/>
            <a:ext cx="914400" cy="36576"/>
          </a:xfrm>
          <a:prstGeom prst="rect">
            <a:avLst/>
          </a:prstGeom>
          <a:solidFill>
            <a:srgbClr val="F67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2788920"/>
            <a:ext cx="292608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59595B"/>
                </a:solidFill>
                <a:latin typeface="Open Sans"/>
              </a:rPr>
              <a:t>The control stack layers Technijian services: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59595B"/>
                </a:solidFill>
                <a:latin typeface="Open Sans"/>
              </a:rPr>
              <a:t>• Company laptops (Intune-managed)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59595B"/>
                </a:solidFill>
                <a:latin typeface="Open Sans"/>
              </a:rPr>
              <a:t>• Company phones (Intune MDM/MAM)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59595B"/>
                </a:solidFill>
                <a:latin typeface="Open Sans"/>
              </a:rPr>
              <a:t>• CloudBrink ZTNA (zero-trust access)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59595B"/>
                </a:solidFill>
                <a:latin typeface="Open Sans"/>
              </a:rPr>
              <a:t>• MyAudit endpoint DLP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59595B"/>
                </a:solidFill>
                <a:latin typeface="Open Sans"/>
              </a:rPr>
              <a:t>• SSO/2FA gateway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59595B"/>
                </a:solidFill>
                <a:latin typeface="Open Sans"/>
              </a:rPr>
              <a:t>• Veeam tenant backup + monthly assessment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5760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EAAC8"/>
                </a:solidFill>
                <a:latin typeface="Open Sans"/>
              </a:rPr>
              <a:t>Full stack: Reg S-P + FINRA 3110 + 17a-4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006D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echnijian-logo-reverse-white-5000x1667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"/>
            <a:ext cx="219456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0" y="3200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Open Sans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6DB6"/>
                </a:solidFill>
                <a:latin typeface="Open Sans"/>
              </a:rPr>
              <a:t>Control-to-Citation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309360"/>
            <a:ext cx="10972800" cy="9144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9595B"/>
                </a:solidFill>
                <a:latin typeface="Open Sans"/>
              </a:rPr>
              <a:t>technijian.com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3550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9595B"/>
                </a:solidFill>
                <a:latin typeface="Open Sans"/>
              </a:rPr>
              <a:t>AFFG Managed Device Strategy  |  April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solidFill>
            <a:srgbClr val="006D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8424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Design Component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98424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Control Objective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984248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Citation(s)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04288"/>
            <a:ext cx="10972800" cy="49720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350008"/>
            <a:ext cx="2194560" cy="405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A1A2E"/>
                </a:solidFill>
                <a:latin typeface="Open Sans"/>
              </a:rPr>
              <a:t>Intune-managed company laptops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350008"/>
            <a:ext cx="4114800" cy="405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9595B"/>
                </a:solidFill>
                <a:latin typeface="Open Sans"/>
              </a:rPr>
              <a:t>All 9 users on company-owned, encrypted, policy-enforced devices.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350008"/>
            <a:ext cx="3840480" cy="405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9595B"/>
                </a:solidFill>
                <a:latin typeface="Open Sans"/>
              </a:rPr>
              <a:t>Reg S-P §248.30(a)(1)-(3); FINRA 3110(a)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801493"/>
            <a:ext cx="10972800" cy="497205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847213"/>
            <a:ext cx="2194560" cy="405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A1A2E"/>
                </a:solidFill>
                <a:latin typeface="Open Sans"/>
              </a:rPr>
              <a:t>Conditional Access + legacy auth block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2847213"/>
            <a:ext cx="4114800" cy="405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9595B"/>
                </a:solidFill>
                <a:latin typeface="Open Sans"/>
              </a:rPr>
              <a:t>Entra ID restricts M365 to compliant devices. IMAP/POP3/SMTP blocked.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2847213"/>
            <a:ext cx="3840480" cy="405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9595B"/>
                </a:solidFill>
                <a:latin typeface="Open Sans"/>
              </a:rPr>
              <a:t>Reg S-P §248.30(a)(3); NIST AC-3, IA-2(1)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298698"/>
            <a:ext cx="10972800" cy="49720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344418"/>
            <a:ext cx="2194560" cy="405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A1A2E"/>
                </a:solidFill>
                <a:latin typeface="Open Sans"/>
              </a:rPr>
              <a:t>CloudBrink ZTNA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3344418"/>
            <a:ext cx="4114800" cy="405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9595B"/>
                </a:solidFill>
                <a:latin typeface="Open Sans"/>
              </a:rPr>
              <a:t>Zero-trust access replaces IP whitelist. Device posture verified per session.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3344418"/>
            <a:ext cx="3840480" cy="405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9595B"/>
                </a:solidFill>
                <a:latin typeface="Open Sans"/>
              </a:rPr>
              <a:t>Reg S-P §248.30(a)(3); NIST AC-17, SC-7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795903"/>
            <a:ext cx="10972800" cy="497205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841623"/>
            <a:ext cx="2194560" cy="405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A1A2E"/>
                </a:solidFill>
                <a:latin typeface="Open Sans"/>
              </a:rPr>
              <a:t>Technijian MyAudit (endpoint DLP)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3841623"/>
            <a:ext cx="4114800" cy="405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9595B"/>
                </a:solidFill>
                <a:latin typeface="Open Sans"/>
              </a:rPr>
              <a:t>Block USB, local download, print, clipboard, screen capture.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3841623"/>
            <a:ext cx="3840480" cy="405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9595B"/>
                </a:solidFill>
                <a:latin typeface="Open Sans"/>
              </a:rPr>
              <a:t>Reg S-P §248.30(a)(3); NIST AC-19, MP-7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293108"/>
            <a:ext cx="10972800" cy="49720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338828"/>
            <a:ext cx="2194560" cy="405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A1A2E"/>
                </a:solidFill>
                <a:latin typeface="Open Sans"/>
              </a:rPr>
              <a:t>Technijian SSO / 2FA gateway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7520" y="4338828"/>
            <a:ext cx="4114800" cy="405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9595B"/>
                </a:solidFill>
                <a:latin typeface="Open Sans"/>
              </a:rPr>
              <a:t>Enforced, logged MFA on custodian portals and third-party SaaS.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4338828"/>
            <a:ext cx="3840480" cy="405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9595B"/>
                </a:solidFill>
                <a:latin typeface="Open Sans"/>
              </a:rPr>
              <a:t>Reg S-P §248.30 (2024); NIST IA-2(1)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790313"/>
            <a:ext cx="10972800" cy="497205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4836033"/>
            <a:ext cx="2194560" cy="405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A1A2E"/>
                </a:solidFill>
                <a:latin typeface="Open Sans"/>
              </a:rPr>
              <a:t>Intune MDM/MAM (company phones)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17520" y="4836033"/>
            <a:ext cx="4114800" cy="405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9595B"/>
                </a:solidFill>
                <a:latin typeface="Open Sans"/>
              </a:rPr>
              <a:t>Phone enrollment, app containerization, remote wipe.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4836033"/>
            <a:ext cx="3840480" cy="405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9595B"/>
                </a:solidFill>
                <a:latin typeface="Open Sans"/>
              </a:rPr>
              <a:t>Reg S-P §248.30(a)(1)-(3); NIST AC-19, MP-6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5287518"/>
            <a:ext cx="10972800" cy="49720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5333238"/>
            <a:ext cx="2194560" cy="405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A1A2E"/>
                </a:solidFill>
                <a:latin typeface="Open Sans"/>
              </a:rPr>
              <a:t>Technijian Veeam Backup for M365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17520" y="5333238"/>
            <a:ext cx="4114800" cy="405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9595B"/>
                </a:solidFill>
                <a:latin typeface="Open Sans"/>
              </a:rPr>
              <a:t>Immutable, non-rewriteable backup of full M365 tenant.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5333238"/>
            <a:ext cx="3840480" cy="405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9595B"/>
                </a:solidFill>
                <a:latin typeface="Open Sans"/>
              </a:rPr>
              <a:t>SEC Rule 17a-4(b),(f); FINRA 4511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5784723"/>
            <a:ext cx="10972800" cy="497205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5830443"/>
            <a:ext cx="2194560" cy="405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A1A2E"/>
                </a:solidFill>
                <a:latin typeface="Open Sans"/>
              </a:rPr>
              <a:t>Technijian monthly assessment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17520" y="5830443"/>
            <a:ext cx="4114800" cy="405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9595B"/>
                </a:solidFill>
                <a:latin typeface="Open Sans"/>
              </a:rPr>
              <a:t>Detect drift; attested evidence of ongoing control operation.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0" y="5830443"/>
            <a:ext cx="3840480" cy="405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9595B"/>
                </a:solidFill>
                <a:latin typeface="Open Sans"/>
              </a:rPr>
              <a:t>FINRA 3110(c); FINRA 3120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006D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echnijian-logo-reverse-white-5000x1667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"/>
            <a:ext cx="219456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0" y="3200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Open Sans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6DB6"/>
                </a:solidFill>
                <a:latin typeface="Open Sans"/>
              </a:rPr>
              <a:t>Managed Endpoints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309360"/>
            <a:ext cx="10972800" cy="9144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9595B"/>
                </a:solidFill>
                <a:latin typeface="Open Sans"/>
              </a:rPr>
              <a:t>technijian.com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3550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9595B"/>
                </a:solidFill>
                <a:latin typeface="Open Sans"/>
              </a:rPr>
              <a:t>AFFG Managed Device Strategy  |  April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3474720" cy="42519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10312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6DB6"/>
                </a:solidFill>
                <a:latin typeface="Open Sans"/>
              </a:rPr>
              <a:t>Intune Enrollment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651760"/>
            <a:ext cx="914400" cy="36576"/>
          </a:xfrm>
          <a:prstGeom prst="rect">
            <a:avLst/>
          </a:prstGeom>
          <a:solidFill>
            <a:srgbClr val="F67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88920"/>
            <a:ext cx="292608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59595B"/>
                </a:solidFill>
                <a:latin typeface="Open Sans"/>
              </a:rPr>
              <a:t>All 9 company laptops auto-enroll via Autopilot.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59595B"/>
                </a:solidFill>
                <a:latin typeface="Open Sans"/>
              </a:rPr>
              <a:t>Policies: BitLocker encryption, Windows Defender ATP, firewall, OS patching, screen lock.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59595B"/>
                </a:solidFill>
                <a:latin typeface="Open Sans"/>
              </a:rPr>
              <a:t>Non-compliant device loses M365 access within minutes.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59595B"/>
                </a:solidFill>
                <a:latin typeface="Open Sans"/>
              </a:rPr>
              <a:t>Intune included in M365 E3 — no additional cost.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760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EAAC8"/>
                </a:solidFill>
                <a:latin typeface="Open Sans"/>
              </a:rPr>
              <a:t>Reg S-P §248.30(a)(1)-(3); NIST CM-8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1920240"/>
            <a:ext cx="3474720" cy="42519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210312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6DB6"/>
                </a:solidFill>
                <a:latin typeface="Open Sans"/>
              </a:rPr>
              <a:t>Conditional Access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651760"/>
            <a:ext cx="914400" cy="36576"/>
          </a:xfrm>
          <a:prstGeom prst="rect">
            <a:avLst/>
          </a:prstGeom>
          <a:solidFill>
            <a:srgbClr val="F67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2788920"/>
            <a:ext cx="292608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59595B"/>
                </a:solidFill>
                <a:latin typeface="Open Sans"/>
              </a:rPr>
              <a:t>M365 access requires all four factors: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59595B"/>
                </a:solidFill>
                <a:latin typeface="Open Sans"/>
              </a:rPr>
              <a:t>1. Correct user identity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59595B"/>
                </a:solidFill>
                <a:latin typeface="Open Sans"/>
              </a:rPr>
              <a:t>2. MFA authentication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59595B"/>
                </a:solidFill>
                <a:latin typeface="Open Sans"/>
              </a:rPr>
              <a:t>3. Intune-compliant device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59595B"/>
                </a:solidFill>
                <a:latin typeface="Open Sans"/>
              </a:rPr>
              <a:t>4. CloudBrink ZTNA session active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59595B"/>
                </a:solidFill>
                <a:latin typeface="Open Sans"/>
              </a:rPr>
              <a:t>Personal laptop with valid credentials + MFA still blocked.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5760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EAAC8"/>
                </a:solidFill>
                <a:latin typeface="Open Sans"/>
              </a:rPr>
              <a:t>Reg S-P §248.30(a); NIST AC-3, IA-2(1)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63840" y="1920240"/>
            <a:ext cx="3474720" cy="42519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210312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6DB6"/>
                </a:solidFill>
                <a:latin typeface="Open Sans"/>
              </a:rPr>
              <a:t>Examiner Optic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2651760"/>
            <a:ext cx="914400" cy="36576"/>
          </a:xfrm>
          <a:prstGeom prst="rect">
            <a:avLst/>
          </a:prstGeom>
          <a:solidFill>
            <a:srgbClr val="F67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2788920"/>
            <a:ext cx="292608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59595B"/>
                </a:solidFill>
                <a:latin typeface="Open Sans"/>
              </a:rPr>
              <a:t>Intune portal: every device with model, OS, encryption, compliance state, last check-in.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59595B"/>
                </a:solidFill>
                <a:latin typeface="Open Sans"/>
              </a:rPr>
              <a:t>Auditable, exportable device inventory.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59595B"/>
                </a:solidFill>
                <a:latin typeface="Open Sans"/>
              </a:rPr>
              <a:t>Lost laptop: remote wipe, BitLocker key escrowed.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59595B"/>
                </a:solidFill>
                <a:latin typeface="Open Sans"/>
              </a:rPr>
              <a:t>Terminated employee: auto-lock, wipe in minutes.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5760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EAAC8"/>
                </a:solidFill>
                <a:latin typeface="Open Sans"/>
              </a:rPr>
              <a:t>Reg S-P §248.30(a); FINRA 3110(a)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006D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echnijian-logo-reverse-white-5000x1667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"/>
            <a:ext cx="219456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0" y="3200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Open Sans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6DB6"/>
                </a:solidFill>
                <a:latin typeface="Open Sans"/>
              </a:rPr>
              <a:t>Conditional Access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309360"/>
            <a:ext cx="10972800" cy="9144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9595B"/>
                </a:solidFill>
                <a:latin typeface="Open Sans"/>
              </a:rPr>
              <a:t>technijian.com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3550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9595B"/>
                </a:solidFill>
                <a:latin typeface="Open Sans"/>
              </a:rPr>
              <a:t>AFFG Managed Device Strategy  |  April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3474720" cy="42519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10312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6DB6"/>
                </a:solidFill>
                <a:latin typeface="Open Sans"/>
              </a:rPr>
              <a:t>Policy 1: Require Compliant Device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651760"/>
            <a:ext cx="914400" cy="36576"/>
          </a:xfrm>
          <a:prstGeom prst="rect">
            <a:avLst/>
          </a:prstGeom>
          <a:solidFill>
            <a:srgbClr val="F67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88920"/>
            <a:ext cx="292608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59595B"/>
                </a:solidFill>
                <a:latin typeface="Open Sans"/>
              </a:rPr>
              <a:t>Entra ID → Conditional Access → Policies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59595B"/>
                </a:solidFill>
                <a:latin typeface="Open Sans"/>
              </a:rPr>
              <a:t>Target: Exchange Online, SharePoint/OneDrive, Teams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59595B"/>
                </a:solidFill>
                <a:latin typeface="Open Sans"/>
              </a:rPr>
              <a:t>Applies to: All 9 users, all platforms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59595B"/>
                </a:solidFill>
                <a:latin typeface="Open Sans"/>
              </a:rPr>
              <a:t>Grant: "Require device to be marked as compliant"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59595B"/>
                </a:solidFill>
                <a:latin typeface="Open Sans"/>
              </a:rPr>
              <a:t>Result: unmanaged device → access denied. Blocks personal laptops, phones, unmanaged browsers.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760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EAAC8"/>
                </a:solidFill>
                <a:latin typeface="Open Sans"/>
              </a:rPr>
              <a:t>Entra ID → Conditional Access → Grant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1920240"/>
            <a:ext cx="3474720" cy="42519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210312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6DB6"/>
                </a:solidFill>
                <a:latin typeface="Open Sans"/>
              </a:rPr>
              <a:t>Policy 2: Block Legacy Auth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651760"/>
            <a:ext cx="914400" cy="36576"/>
          </a:xfrm>
          <a:prstGeom prst="rect">
            <a:avLst/>
          </a:prstGeom>
          <a:solidFill>
            <a:srgbClr val="F67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2788920"/>
            <a:ext cx="292608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59595B"/>
                </a:solidFill>
                <a:latin typeface="Open Sans"/>
              </a:rPr>
              <a:t>CRITICAL: IMAP, POP3, SMTP basic auth bypass Conditional Access entirely.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59595B"/>
                </a:solidFill>
                <a:latin typeface="Open Sans"/>
              </a:rPr>
              <a:t>Without this, personal mail client with basic auth pulls all email.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59595B"/>
                </a:solidFill>
                <a:latin typeface="Open Sans"/>
              </a:rPr>
              <a:t>Target: "Other clients" + "Exchange ActiveSync" → Block.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59595B"/>
                </a:solidFill>
                <a:latin typeface="Open Sans"/>
              </a:rPr>
              <a:t>Also disable per-user legacy auth in Entra ID.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59595B"/>
                </a:solidFill>
                <a:latin typeface="Open Sans"/>
              </a:rPr>
              <a:t>Most commonly missed step in M365 lockdown.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5760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EAAC8"/>
                </a:solidFill>
                <a:latin typeface="Open Sans"/>
              </a:rPr>
              <a:t>Entra ID → Conditional Access → Block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63840" y="1920240"/>
            <a:ext cx="3474720" cy="42519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210312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6DB6"/>
                </a:solidFill>
                <a:latin typeface="Open Sans"/>
              </a:rPr>
              <a:t>Policy 3: App Protection (Mobile)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2651760"/>
            <a:ext cx="914400" cy="36576"/>
          </a:xfrm>
          <a:prstGeom prst="rect">
            <a:avLst/>
          </a:prstGeom>
          <a:solidFill>
            <a:srgbClr val="F67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2788920"/>
            <a:ext cx="292608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59595B"/>
                </a:solidFill>
                <a:latin typeface="Open Sans"/>
              </a:rPr>
              <a:t>Intune → App Protection Policies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59595B"/>
                </a:solidFill>
                <a:latin typeface="Open Sans"/>
              </a:rPr>
              <a:t>Target: Outlook, OneDrive, Teams, Edge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59595B"/>
                </a:solidFill>
                <a:latin typeface="Open Sans"/>
              </a:rPr>
              <a:t>Block: copy/paste to personal apps, save-as to personal storage, screenshots.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59595B"/>
                </a:solidFill>
                <a:latin typeface="Open Sans"/>
              </a:rPr>
              <a:t>Require: PIN/biometric for corporate apps.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59595B"/>
                </a:solidFill>
                <a:latin typeface="Open Sans"/>
              </a:rPr>
              <a:t>Auto-wipe: on jailbreak or X days offline.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5760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EAAC8"/>
                </a:solidFill>
                <a:latin typeface="Open Sans"/>
              </a:rPr>
              <a:t>Intune → App Protection Policies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006D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echnijian-logo-reverse-white-5000x1667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"/>
            <a:ext cx="219456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0" y="3200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Open Sans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6DB6"/>
                </a:solidFill>
                <a:latin typeface="Open Sans"/>
              </a:rPr>
              <a:t>CloudBrink ZTNA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309360"/>
            <a:ext cx="10972800" cy="9144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9595B"/>
                </a:solidFill>
                <a:latin typeface="Open Sans"/>
              </a:rPr>
              <a:t>technijian.com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3550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9595B"/>
                </a:solidFill>
                <a:latin typeface="Open Sans"/>
              </a:rPr>
              <a:t>AFFG Managed Device Strategy  |  April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3474720" cy="42519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10312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6DB6"/>
                </a:solidFill>
                <a:latin typeface="Open Sans"/>
              </a:rPr>
              <a:t>How It Works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651760"/>
            <a:ext cx="914400" cy="36576"/>
          </a:xfrm>
          <a:prstGeom prst="rect">
            <a:avLst/>
          </a:prstGeom>
          <a:solidFill>
            <a:srgbClr val="F67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88920"/>
            <a:ext cx="292608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59595B"/>
                </a:solidFill>
                <a:latin typeface="Open Sans"/>
              </a:rPr>
              <a:t>CloudBrink agent on every managed laptop.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59595B"/>
                </a:solidFill>
                <a:latin typeface="Open Sans"/>
              </a:rPr>
              <a:t>Verifies device is Intune-enrolled, compliant, user authenticated before any connection.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59595B"/>
                </a:solidFill>
                <a:latin typeface="Open Sans"/>
              </a:rPr>
              <a:t>End-to-end encrypted traffic through CloudBrink edge.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59595B"/>
                </a:solidFill>
                <a:latin typeface="Open Sans"/>
              </a:rPr>
              <a:t>Per-application access — no lateral movement.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59595B"/>
                </a:solidFill>
                <a:latin typeface="Open Sans"/>
              </a:rPr>
              <a:t>Works from office, hotel, client site, or home.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760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EAAC8"/>
                </a:solidFill>
                <a:latin typeface="Open Sans"/>
              </a:rPr>
              <a:t>Reg S-P §248.30(a)(3); NIST AC-17, SC-7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1920240"/>
            <a:ext cx="3474720" cy="42519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210312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6DB6"/>
                </a:solidFill>
                <a:latin typeface="Open Sans"/>
              </a:rPr>
              <a:t>Why Not Just IP Whitelist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651760"/>
            <a:ext cx="914400" cy="36576"/>
          </a:xfrm>
          <a:prstGeom prst="rect">
            <a:avLst/>
          </a:prstGeom>
          <a:solidFill>
            <a:srgbClr val="F67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2788920"/>
            <a:ext cx="292608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59595B"/>
                </a:solidFill>
                <a:latin typeface="Open Sans"/>
              </a:rPr>
              <a:t>IP whitelisting works when all 9 users are in the office.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59595B"/>
                </a:solidFill>
                <a:latin typeface="Open Sans"/>
              </a:rPr>
              <a:t>Travel = locked out, or exceptions that weaken the boundary.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59595B"/>
                </a:solidFill>
                <a:latin typeface="Open Sans"/>
              </a:rPr>
              <a:t>CloudBrink: is this a known, managed, compliant device with a verified user?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59595B"/>
                </a:solidFill>
                <a:latin typeface="Open Sans"/>
              </a:rPr>
              <a:t>Stronger than IP whitelist — validates device, not network.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5760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EAAC8"/>
                </a:solidFill>
                <a:latin typeface="Open Sans"/>
              </a:rPr>
              <a:t>Reg S-P §248.30(a)(3); NIST AC-3, AC-17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63840" y="1920240"/>
            <a:ext cx="3474720" cy="42519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210312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6DB6"/>
                </a:solidFill>
                <a:latin typeface="Open Sans"/>
              </a:rPr>
              <a:t>What It Replaces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2651760"/>
            <a:ext cx="914400" cy="36576"/>
          </a:xfrm>
          <a:prstGeom prst="rect">
            <a:avLst/>
          </a:prstGeom>
          <a:solidFill>
            <a:srgbClr val="F67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2788920"/>
            <a:ext cx="292608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59595B"/>
                </a:solidFill>
                <a:latin typeface="Open Sans"/>
              </a:rPr>
              <a:t>• Replaces: office-IP whitelist for M365 and portals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59595B"/>
                </a:solidFill>
                <a:latin typeface="Open Sans"/>
              </a:rPr>
              <a:t>• Replaces: traditional VPN (split-tunnel risks)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59595B"/>
                </a:solidFill>
                <a:latin typeface="Open Sans"/>
              </a:rPr>
              <a:t>• Enforces: device posture check per connection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59595B"/>
                </a:solidFill>
                <a:latin typeface="Open Sans"/>
              </a:rPr>
              <a:t>• Enforces: per-app micro-segmented access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59595B"/>
                </a:solidFill>
                <a:latin typeface="Open Sans"/>
              </a:rPr>
              <a:t>• Logs: every session (user, device, app, duration)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59595B"/>
                </a:solidFill>
                <a:latin typeface="Open Sans"/>
              </a:rPr>
              <a:t>• Works: from any network, no config changes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5760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EAAC8"/>
                </a:solidFill>
                <a:latin typeface="Open Sans"/>
              </a:rPr>
              <a:t>Audit: SEC 17a-4(b)(4); FINRA 4511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006D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echnijian-logo-reverse-white-5000x1667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"/>
            <a:ext cx="219456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0" y="3200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Open Sans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6DB6"/>
                </a:solidFill>
                <a:latin typeface="Open Sans"/>
              </a:rPr>
              <a:t>VDI + IP Whitelist vs. Managed Device + CloudBrink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309360"/>
            <a:ext cx="10972800" cy="9144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9595B"/>
                </a:solidFill>
                <a:latin typeface="Open Sans"/>
              </a:rPr>
              <a:t>technijian.com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3550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9595B"/>
                </a:solidFill>
                <a:latin typeface="Open Sans"/>
              </a:rPr>
              <a:t>AFFG Managed Device Strategy  |  April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solidFill>
            <a:srgbClr val="006D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8424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Factor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198424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VDI + IP Whitelist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1984248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Managed + CloudBrink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198424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Impact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304288"/>
            <a:ext cx="109728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35000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A1A2E"/>
                </a:solidFill>
                <a:latin typeface="Open Sans"/>
              </a:rPr>
              <a:t>Data at rest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235000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9595B"/>
                </a:solidFill>
                <a:latin typeface="Open Sans"/>
              </a:rPr>
              <a:t>Data in datacenter VM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235000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9595B"/>
                </a:solidFill>
                <a:latin typeface="Open Sans"/>
              </a:rPr>
              <a:t>BitLocker-encrypted laptop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35000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AAC8"/>
                </a:solidFill>
                <a:latin typeface="Open Sans"/>
              </a:rPr>
              <a:t>Equivalent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852928"/>
            <a:ext cx="10972800" cy="54864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289864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A1A2E"/>
                </a:solidFill>
                <a:latin typeface="Open Sans"/>
              </a:rPr>
              <a:t>Access 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289864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9595B"/>
                </a:solidFill>
                <a:latin typeface="Open Sans"/>
              </a:rPr>
              <a:t>Office IP + MFA + endpoint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289864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9595B"/>
                </a:solidFill>
                <a:latin typeface="Open Sans"/>
              </a:rPr>
              <a:t>ZTNA + MFA + Intune compliance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289864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AAC8"/>
                </a:solidFill>
                <a:latin typeface="Open Sans"/>
              </a:rPr>
              <a:t>Stronger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401568"/>
            <a:ext cx="109728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44728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A1A2E"/>
                </a:solidFill>
                <a:latin typeface="Open Sans"/>
              </a:rPr>
              <a:t>Travel / remote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0" y="344728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9595B"/>
                </a:solidFill>
                <a:latin typeface="Open Sans"/>
              </a:rPr>
              <a:t>Locked out or VPN exception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344728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9595B"/>
                </a:solidFill>
                <a:latin typeface="Open Sans"/>
              </a:rPr>
              <a:t>Works from any network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344728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AAC8"/>
                </a:solidFill>
                <a:latin typeface="Open Sans"/>
              </a:rPr>
              <a:t>Eliminates risk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950208"/>
            <a:ext cx="10972800" cy="54864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399592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A1A2E"/>
                </a:solidFill>
                <a:latin typeface="Open Sans"/>
              </a:rPr>
              <a:t>Data exfiltration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68880" y="399592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9595B"/>
                </a:solidFill>
                <a:latin typeface="Open Sans"/>
              </a:rPr>
              <a:t>VDI session + MyAudit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80" y="399592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9595B"/>
                </a:solidFill>
                <a:latin typeface="Open Sans"/>
              </a:rPr>
              <a:t>MyAudit on managed laptop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399592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AAC8"/>
                </a:solidFill>
                <a:latin typeface="Open Sans"/>
              </a:rPr>
              <a:t>Equivalent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498848"/>
            <a:ext cx="109728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454456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A1A2E"/>
                </a:solidFill>
                <a:latin typeface="Open Sans"/>
              </a:rPr>
              <a:t>Device loss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68880" y="454456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9595B"/>
                </a:solidFill>
                <a:latin typeface="Open Sans"/>
              </a:rPr>
              <a:t>No data on endpoint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80" y="454456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9595B"/>
                </a:solidFill>
                <a:latin typeface="Open Sans"/>
              </a:rPr>
              <a:t>BitLocker + remote wipe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454456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AAC8"/>
                </a:solidFill>
                <a:latin typeface="Open Sans"/>
              </a:rPr>
              <a:t>Equivalent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5047488"/>
            <a:ext cx="10972800" cy="54864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509320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A1A2E"/>
                </a:solidFill>
                <a:latin typeface="Open Sans"/>
              </a:rPr>
              <a:t>Session logging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68880" y="509320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9595B"/>
                </a:solidFill>
                <a:latin typeface="Open Sans"/>
              </a:rPr>
              <a:t>VDI session recording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12080" y="509320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9595B"/>
                </a:solidFill>
                <a:latin typeface="Open Sans"/>
              </a:rPr>
              <a:t>CloudBrink + M365 + MyAudit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0" y="509320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AAC8"/>
                </a:solidFill>
                <a:latin typeface="Open Sans"/>
              </a:rPr>
              <a:t>Equivalent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596128"/>
            <a:ext cx="109728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564184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A1A2E"/>
                </a:solidFill>
                <a:latin typeface="Open Sans"/>
              </a:rPr>
              <a:t>User experience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68880" y="564184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9595B"/>
                </a:solidFill>
                <a:latin typeface="Open Sans"/>
              </a:rPr>
              <a:t>Datacenter latency, no offline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12080" y="564184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9595B"/>
                </a:solidFill>
                <a:latin typeface="Open Sans"/>
              </a:rPr>
              <a:t>Native performance, offline OK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03920" y="564184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AAC8"/>
                </a:solidFill>
                <a:latin typeface="Open Sans"/>
              </a:rPr>
              <a:t>Improved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006D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echnijian-logo-reverse-white-5000x1667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"/>
            <a:ext cx="219456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0" y="3200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Open Sans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6DB6"/>
                </a:solidFill>
                <a:latin typeface="Open Sans"/>
              </a:rPr>
              <a:t>Mobile Device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309360"/>
            <a:ext cx="10972800" cy="9144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9595B"/>
                </a:solidFill>
                <a:latin typeface="Open Sans"/>
              </a:rPr>
              <a:t>technijian.com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3550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9595B"/>
                </a:solidFill>
                <a:latin typeface="Open Sans"/>
              </a:rPr>
              <a:t>AFFG Managed Device Strategy  |  April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2606040" cy="42519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574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6DB6"/>
                </a:solidFill>
                <a:latin typeface="Open Sans"/>
              </a:rPr>
              <a:t>Intune MDM Enrollment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514600"/>
            <a:ext cx="731520" cy="36576"/>
          </a:xfrm>
          <a:prstGeom prst="rect">
            <a:avLst/>
          </a:prstGeom>
          <a:solidFill>
            <a:srgbClr val="F67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651760"/>
            <a:ext cx="224028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50">
                <a:solidFill>
                  <a:srgbClr val="59595B"/>
                </a:solidFill>
                <a:latin typeface="Open Sans"/>
              </a:rPr>
              <a:t>Company phone enrolls in Intune before M365 apps activate.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50">
                <a:solidFill>
                  <a:srgbClr val="59595B"/>
                </a:solidFill>
                <a:latin typeface="Open Sans"/>
              </a:rPr>
              <a:t>Enforces: encryption, PIN/biometric, OS minimum, jailbreak detection.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50">
                <a:solidFill>
                  <a:srgbClr val="59595B"/>
                </a:solidFill>
                <a:latin typeface="Open Sans"/>
              </a:rPr>
              <a:t>Unenrolled personal phones blocked.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50">
                <a:solidFill>
                  <a:srgbClr val="59595B"/>
                </a:solidFill>
                <a:latin typeface="Open Sans"/>
              </a:rPr>
              <a:t>Included in M365 E3.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80644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EAAC8"/>
                </a:solidFill>
                <a:latin typeface="Open Sans"/>
              </a:rPr>
              <a:t>Reg S-P §248.30(a)(1)-(3)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1920240"/>
            <a:ext cx="2606040" cy="42519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20574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6DB6"/>
                </a:solidFill>
                <a:latin typeface="Open Sans"/>
              </a:rPr>
              <a:t>App Protection (MAM)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2514600"/>
            <a:ext cx="731520" cy="36576"/>
          </a:xfrm>
          <a:prstGeom prst="rect">
            <a:avLst/>
          </a:prstGeom>
          <a:solidFill>
            <a:srgbClr val="F67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2651760"/>
            <a:ext cx="224028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50">
                <a:solidFill>
                  <a:srgbClr val="59595B"/>
                </a:solidFill>
                <a:latin typeface="Open Sans"/>
              </a:rPr>
              <a:t>Managed container around Outlook, OneDrive, Teams.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50">
                <a:solidFill>
                  <a:srgbClr val="59595B"/>
                </a:solidFill>
                <a:latin typeface="Open Sans"/>
              </a:rPr>
              <a:t>Blocked: copy/paste to personal apps, save-as, screenshots.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50">
                <a:solidFill>
                  <a:srgbClr val="59595B"/>
                </a:solidFill>
                <a:latin typeface="Open Sans"/>
              </a:rPr>
              <a:t>Attachments open only in managed apps.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50">
                <a:solidFill>
                  <a:srgbClr val="59595B"/>
                </a:solidFill>
                <a:latin typeface="Open Sans"/>
              </a:rPr>
              <a:t>Encrypted independently.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580644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EAAC8"/>
                </a:solidFill>
                <a:latin typeface="Open Sans"/>
              </a:rPr>
              <a:t>Reg S-P §248.30(a)(3)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1920240"/>
            <a:ext cx="2606040" cy="42519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20574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6DB6"/>
                </a:solidFill>
                <a:latin typeface="Open Sans"/>
              </a:rPr>
              <a:t>Remote Wipe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514600"/>
            <a:ext cx="731520" cy="36576"/>
          </a:xfrm>
          <a:prstGeom prst="rect">
            <a:avLst/>
          </a:prstGeom>
          <a:solidFill>
            <a:srgbClr val="F67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2651760"/>
            <a:ext cx="224028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50">
                <a:solidFill>
                  <a:srgbClr val="59595B"/>
                </a:solidFill>
                <a:latin typeface="Open Sans"/>
              </a:rPr>
              <a:t>Selective: corporate data only. Personal untouched.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50">
                <a:solidFill>
                  <a:srgbClr val="59595B"/>
                </a:solidFill>
                <a:latin typeface="Open Sans"/>
              </a:rPr>
              <a:t>Full: factory reset on termination.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50">
                <a:solidFill>
                  <a:srgbClr val="59595B"/>
                </a:solidFill>
                <a:latin typeface="Open Sans"/>
              </a:rPr>
              <a:t>Auto triggers: jailbreak, days offline.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50">
                <a:solidFill>
                  <a:srgbClr val="59595B"/>
                </a:solidFill>
                <a:latin typeface="Open Sans"/>
              </a:rPr>
              <a:t>Wipe history logged.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580644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EAAC8"/>
                </a:solidFill>
                <a:latin typeface="Open Sans"/>
              </a:rPr>
              <a:t>FINRA 3110(a); NIST MP-6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78240" y="1920240"/>
            <a:ext cx="2606040" cy="42519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0" y="20574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6DB6"/>
                </a:solidFill>
                <a:latin typeface="Open Sans"/>
              </a:rPr>
              <a:t>Monthly Mobile Audit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61120" y="2514600"/>
            <a:ext cx="731520" cy="36576"/>
          </a:xfrm>
          <a:prstGeom prst="rect">
            <a:avLst/>
          </a:prstGeom>
          <a:solidFill>
            <a:srgbClr val="F67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0" y="2651760"/>
            <a:ext cx="224028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50">
                <a:solidFill>
                  <a:srgbClr val="59595B"/>
                </a:solidFill>
                <a:latin typeface="Open Sans"/>
              </a:rPr>
              <a:t>Enrolled count vs. headcount.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50">
                <a:solidFill>
                  <a:srgbClr val="59595B"/>
                </a:solidFill>
                <a:latin typeface="Open Sans"/>
              </a:rPr>
              <a:t>Compliance violations, wipe history.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50">
                <a:solidFill>
                  <a:srgbClr val="59595B"/>
                </a:solidFill>
                <a:latin typeface="Open Sans"/>
              </a:rPr>
              <a:t>Evidence for FINRA 3110(c).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50">
                <a:solidFill>
                  <a:srgbClr val="59595B"/>
                </a:solidFill>
                <a:latin typeface="Open Sans"/>
              </a:rPr>
              <a:t>Folds into $50/mo assessment.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580644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EAAC8"/>
                </a:solidFill>
                <a:latin typeface="Open Sans"/>
              </a:rPr>
              <a:t>FINRA 3110(c); FINRA 3120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006D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echnijian-logo-reverse-white-5000x1667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"/>
            <a:ext cx="219456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0" y="3200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Open Sans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6DB6"/>
                </a:solidFill>
                <a:latin typeface="Open Sans"/>
              </a:rPr>
              <a:t>Endpoint DLP: MyAudit + M365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309360"/>
            <a:ext cx="10972800" cy="9144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9595B"/>
                </a:solidFill>
                <a:latin typeface="Open Sans"/>
              </a:rPr>
              <a:t>technijian.com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3550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9595B"/>
                </a:solidFill>
                <a:latin typeface="Open Sans"/>
              </a:rPr>
              <a:t>AFFG Managed Device Strategy  |  April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solidFill>
            <a:srgbClr val="006D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8424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Data Movement 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98424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M365 E3 DLP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984248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MyAudit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04288"/>
            <a:ext cx="10972800" cy="49720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350008"/>
            <a:ext cx="2194560" cy="405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A1A2E"/>
                </a:solidFill>
                <a:latin typeface="Open Sans"/>
              </a:rPr>
              <a:t>Download to local C: drive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350008"/>
            <a:ext cx="4114800" cy="405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9595B"/>
                </a:solidFill>
                <a:latin typeface="Open Sans"/>
              </a:rPr>
              <a:t>Not covered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350008"/>
            <a:ext cx="3840480" cy="405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9595B"/>
                </a:solidFill>
                <a:latin typeface="Open Sans"/>
              </a:rPr>
              <a:t>Blocked / logged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801493"/>
            <a:ext cx="10972800" cy="497205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847213"/>
            <a:ext cx="2194560" cy="405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A1A2E"/>
                </a:solidFill>
                <a:latin typeface="Open Sans"/>
              </a:rPr>
              <a:t>Copy to USB drive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2847213"/>
            <a:ext cx="4114800" cy="405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9595B"/>
                </a:solidFill>
                <a:latin typeface="Open Sans"/>
              </a:rPr>
              <a:t>Not covered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2847213"/>
            <a:ext cx="3840480" cy="405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9595B"/>
                </a:solidFill>
                <a:latin typeface="Open Sans"/>
              </a:rPr>
              <a:t>Blocked / logged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298698"/>
            <a:ext cx="10972800" cy="49720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344418"/>
            <a:ext cx="2194560" cy="405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A1A2E"/>
                </a:solidFill>
                <a:latin typeface="Open Sans"/>
              </a:rPr>
              <a:t>Print to local printer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3344418"/>
            <a:ext cx="4114800" cy="405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9595B"/>
                </a:solidFill>
                <a:latin typeface="Open Sans"/>
              </a:rPr>
              <a:t>Not covered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3344418"/>
            <a:ext cx="3840480" cy="405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9595B"/>
                </a:solidFill>
                <a:latin typeface="Open Sans"/>
              </a:rPr>
              <a:t>Blocked / logged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795903"/>
            <a:ext cx="10972800" cy="497205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841623"/>
            <a:ext cx="2194560" cy="405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A1A2E"/>
                </a:solidFill>
                <a:latin typeface="Open Sans"/>
              </a:rPr>
              <a:t>Clipboard copy/paste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3841623"/>
            <a:ext cx="4114800" cy="405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9595B"/>
                </a:solidFill>
                <a:latin typeface="Open Sans"/>
              </a:rPr>
              <a:t>Not covered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3841623"/>
            <a:ext cx="3840480" cy="405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9595B"/>
                </a:solidFill>
                <a:latin typeface="Open Sans"/>
              </a:rPr>
              <a:t>Blocked / logged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293108"/>
            <a:ext cx="10972800" cy="49720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338828"/>
            <a:ext cx="2194560" cy="405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A1A2E"/>
                </a:solidFill>
                <a:latin typeface="Open Sans"/>
              </a:rPr>
              <a:t>Screen capture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7520" y="4338828"/>
            <a:ext cx="4114800" cy="405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9595B"/>
                </a:solidFill>
                <a:latin typeface="Open Sans"/>
              </a:rPr>
              <a:t>Not covered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4338828"/>
            <a:ext cx="3840480" cy="405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9595B"/>
                </a:solidFill>
                <a:latin typeface="Open Sans"/>
              </a:rPr>
              <a:t>Blocked / logged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790313"/>
            <a:ext cx="10972800" cy="497205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4836033"/>
            <a:ext cx="2194560" cy="405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A1A2E"/>
                </a:solidFill>
                <a:latin typeface="Open Sans"/>
              </a:rPr>
              <a:t>Send via Exchange email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17520" y="4836033"/>
            <a:ext cx="4114800" cy="405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9595B"/>
                </a:solidFill>
                <a:latin typeface="Open Sans"/>
              </a:rPr>
              <a:t>Covered (mail DLP)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4836033"/>
            <a:ext cx="3840480" cy="405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9595B"/>
                </a:solidFill>
                <a:latin typeface="Open Sans"/>
              </a:rPr>
              <a:t>N/A (M365)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5287518"/>
            <a:ext cx="10972800" cy="49720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5333238"/>
            <a:ext cx="2194560" cy="405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A1A2E"/>
                </a:solidFill>
                <a:latin typeface="Open Sans"/>
              </a:rPr>
              <a:t>SharePoint/OneDrive share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17520" y="5333238"/>
            <a:ext cx="4114800" cy="405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9595B"/>
                </a:solidFill>
                <a:latin typeface="Open Sans"/>
              </a:rPr>
              <a:t>Covered (M365 DLP)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5333238"/>
            <a:ext cx="3840480" cy="405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9595B"/>
                </a:solidFill>
                <a:latin typeface="Open Sans"/>
              </a:rPr>
              <a:t>N/A (tenant)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5784723"/>
            <a:ext cx="10972800" cy="497205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5830443"/>
            <a:ext cx="2194560" cy="405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A1A2E"/>
                </a:solidFill>
                <a:latin typeface="Open Sans"/>
              </a:rPr>
              <a:t>Upload to unsanctioned SaaS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17520" y="5830443"/>
            <a:ext cx="4114800" cy="405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9595B"/>
                </a:solidFill>
                <a:latin typeface="Open Sans"/>
              </a:rPr>
              <a:t>Partial (needs E5)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0" y="5830443"/>
            <a:ext cx="3840480" cy="405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9595B"/>
                </a:solidFill>
                <a:latin typeface="Open Sans"/>
              </a:rPr>
              <a:t>Blocked / logged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006D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echnijian-logo-reverse-white-5000x1667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"/>
            <a:ext cx="219456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0" y="3200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Open Sans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6DB6"/>
                </a:solidFill>
                <a:latin typeface="Open Sans"/>
              </a:rPr>
              <a:t>Tenant Backup: Veeam for M365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309360"/>
            <a:ext cx="10972800" cy="9144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9595B"/>
                </a:solidFill>
                <a:latin typeface="Open Sans"/>
              </a:rPr>
              <a:t>technijian.com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3550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9595B"/>
                </a:solidFill>
                <a:latin typeface="Open Sans"/>
              </a:rPr>
              <a:t>AFFG Managed Device Strategy  |  April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3474720" cy="42519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10312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6DB6"/>
                </a:solidFill>
                <a:latin typeface="Open Sans"/>
              </a:rPr>
              <a:t>M365 Retention Gaps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651760"/>
            <a:ext cx="914400" cy="36576"/>
          </a:xfrm>
          <a:prstGeom prst="rect">
            <a:avLst/>
          </a:prstGeom>
          <a:solidFill>
            <a:srgbClr val="F67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88920"/>
            <a:ext cx="292608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59595B"/>
                </a:solidFill>
                <a:latin typeface="Open Sans"/>
              </a:rPr>
              <a:t>• Tenant-level events (malicious admin, takeover)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59595B"/>
                </a:solidFill>
                <a:latin typeface="Open Sans"/>
              </a:rPr>
              <a:t>• Ransomware via OneDrive/SharePoint sync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59595B"/>
                </a:solidFill>
                <a:latin typeface="Open Sans"/>
              </a:rPr>
              <a:t>• Mass deletion across tenant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59595B"/>
                </a:solidFill>
                <a:latin typeface="Open Sans"/>
              </a:rPr>
              <a:t>• Retention-policy changes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59595B"/>
                </a:solidFill>
                <a:latin typeface="Open Sans"/>
              </a:rPr>
              <a:t>• No point-in-time item/folder restore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59595B"/>
                </a:solidFill>
                <a:latin typeface="Open Sans"/>
              </a:rPr>
              <a:t>If the tenant is the attack surface, retention is not a backup.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760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EAAC8"/>
                </a:solidFill>
                <a:latin typeface="Open Sans"/>
              </a:rPr>
              <a:t>SEC Rule 17a-4(f); FINRA 4511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1920240"/>
            <a:ext cx="3474720" cy="42519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210312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6DB6"/>
                </a:solidFill>
                <a:latin typeface="Open Sans"/>
              </a:rPr>
              <a:t>What Veeam Adds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651760"/>
            <a:ext cx="914400" cy="36576"/>
          </a:xfrm>
          <a:prstGeom prst="rect">
            <a:avLst/>
          </a:prstGeom>
          <a:solidFill>
            <a:srgbClr val="F67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2788920"/>
            <a:ext cx="292608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59595B"/>
                </a:solidFill>
                <a:latin typeface="Open Sans"/>
              </a:rPr>
              <a:t>• Full tenant: Exchange, SharePoint, OneDrive, Teams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59595B"/>
                </a:solidFill>
                <a:latin typeface="Open Sans"/>
              </a:rPr>
              <a:t>• Immutable off-tenant storage (WORM-capable)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59595B"/>
                </a:solidFill>
                <a:latin typeface="Open Sans"/>
              </a:rPr>
              <a:t>• Granular restore: item, folder, mailbox, site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59595B"/>
                </a:solidFill>
                <a:latin typeface="Open Sans"/>
              </a:rPr>
              <a:t>• Independent encryption keys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59595B"/>
                </a:solidFill>
                <a:latin typeface="Open Sans"/>
              </a:rPr>
              <a:t>• Evidence chain for 17a-4(f) attestation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5760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EAAC8"/>
                </a:solidFill>
                <a:latin typeface="Open Sans"/>
              </a:rPr>
              <a:t>SEC Rule 17a-4(b),(f); FINRA 4511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63840" y="1920240"/>
            <a:ext cx="3474720" cy="42519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210312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6DB6"/>
                </a:solidFill>
                <a:latin typeface="Open Sans"/>
              </a:rPr>
              <a:t>Unchanged From VDI Proposal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2651760"/>
            <a:ext cx="914400" cy="36576"/>
          </a:xfrm>
          <a:prstGeom prst="rect">
            <a:avLst/>
          </a:prstGeom>
          <a:solidFill>
            <a:srgbClr val="F67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2788920"/>
            <a:ext cx="292608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59595B"/>
                </a:solidFill>
                <a:latin typeface="Open Sans"/>
              </a:rPr>
              <a:t>Veeam backs up the M365 tenant, not the endpoint.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59595B"/>
                </a:solidFill>
                <a:latin typeface="Open Sans"/>
              </a:rPr>
              <a:t>Device model is irrelevant — same backup scope.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59595B"/>
                </a:solidFill>
                <a:latin typeface="Open Sans"/>
              </a:rPr>
              <a:t>$100/month storage = independent backup repository.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59595B"/>
                </a:solidFill>
                <a:latin typeface="Open Sans"/>
              </a:rPr>
              <a:t>This makes 17a-4(f) defensible regardless of endpoint model.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5760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EAAC8"/>
                </a:solidFill>
                <a:latin typeface="Open Sans"/>
              </a:rPr>
              <a:t>No change from original proposal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006D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echnijian-logo-reverse-white-5000x1667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"/>
            <a:ext cx="219456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0" y="3200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Open Sans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6DB6"/>
                </a:solidFill>
                <a:latin typeface="Open Sans"/>
              </a:rPr>
              <a:t>Drift Detection: Monthly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309360"/>
            <a:ext cx="10972800" cy="9144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9595B"/>
                </a:solidFill>
                <a:latin typeface="Open Sans"/>
              </a:rPr>
              <a:t>technijian.com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3550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9595B"/>
                </a:solidFill>
                <a:latin typeface="Open Sans"/>
              </a:rPr>
              <a:t>AFFG Managed Device Strategy  |  April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3474720" cy="42519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10312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6DB6"/>
                </a:solidFill>
                <a:latin typeface="Open Sans"/>
              </a:rPr>
              <a:t>Recommended: $50/Month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651760"/>
            <a:ext cx="914400" cy="36576"/>
          </a:xfrm>
          <a:prstGeom prst="rect">
            <a:avLst/>
          </a:prstGeom>
          <a:solidFill>
            <a:srgbClr val="F67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88920"/>
            <a:ext cx="292608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59595B"/>
                </a:solidFill>
                <a:latin typeface="Open Sans"/>
              </a:rPr>
              <a:t>Monthly Technijian assessment: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59595B"/>
                </a:solidFill>
                <a:latin typeface="Open Sans"/>
              </a:rPr>
              <a:t>• M365: DLP, MFA, audit logs, privileged roles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59595B"/>
                </a:solidFill>
                <a:latin typeface="Open Sans"/>
              </a:rPr>
              <a:t>• Intune: compliance, encryption, OS patches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59595B"/>
                </a:solidFill>
                <a:latin typeface="Open Sans"/>
              </a:rPr>
              <a:t>• CloudBrink: agents vs. headcount, posture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59595B"/>
                </a:solidFill>
                <a:latin typeface="Open Sans"/>
              </a:rPr>
              <a:t>• Mobile: enrolled devices, wipe history, MAM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59595B"/>
                </a:solidFill>
                <a:latin typeface="Open Sans"/>
              </a:rPr>
              <a:t>• Physical site controls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59595B"/>
                </a:solidFill>
                <a:latin typeface="Open Sans"/>
              </a:rPr>
              <a:t>Monthly evidence packet for FINRA 3110(c).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760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EAAC8"/>
                </a:solidFill>
                <a:latin typeface="Open Sans"/>
              </a:rPr>
              <a:t>FINRA 3110(c); FINRA 3120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1920240"/>
            <a:ext cx="3474720" cy="42519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210312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6DB6"/>
                </a:solidFill>
                <a:latin typeface="Open Sans"/>
              </a:rPr>
              <a:t>Alternative: $250/Quarter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651760"/>
            <a:ext cx="914400" cy="36576"/>
          </a:xfrm>
          <a:prstGeom prst="rect">
            <a:avLst/>
          </a:prstGeom>
          <a:solidFill>
            <a:srgbClr val="F67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2788920"/>
            <a:ext cx="292608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59595B"/>
                </a:solidFill>
                <a:latin typeface="Open Sans"/>
              </a:rPr>
              <a:t>Quarterly if AFFG prefers lower steady-state cost.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59595B"/>
                </a:solidFill>
                <a:latin typeface="Open Sans"/>
              </a:rPr>
              <a:t>Full engagement each cycle: scan, review, evidence.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59595B"/>
                </a:solidFill>
                <a:latin typeface="Open Sans"/>
              </a:rPr>
              <a:t>Not 3x monthly — each cycle restarts full assessment.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59595B"/>
                </a:solidFill>
                <a:latin typeface="Open Sans"/>
              </a:rPr>
              <a:t>Minimum cadence for FINRA 3110(c).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5760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EAAC8"/>
                </a:solidFill>
                <a:latin typeface="Open Sans"/>
              </a:rPr>
              <a:t>FINRA 3110(c) (minimum)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63840" y="1920240"/>
            <a:ext cx="3474720" cy="42519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210312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6DB6"/>
                </a:solidFill>
                <a:latin typeface="Open Sans"/>
              </a:rPr>
              <a:t>New: Device Fleet Monitoring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2651760"/>
            <a:ext cx="914400" cy="36576"/>
          </a:xfrm>
          <a:prstGeom prst="rect">
            <a:avLst/>
          </a:prstGeom>
          <a:solidFill>
            <a:srgbClr val="F67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2788920"/>
            <a:ext cx="292608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59595B"/>
                </a:solidFill>
                <a:latin typeface="Open Sans"/>
              </a:rPr>
              <a:t>Two new assessment dimensions: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59595B"/>
                </a:solidFill>
                <a:latin typeface="Open Sans"/>
              </a:rPr>
              <a:t>1. Intune: are all 9 laptops + 9 phones enrolled, encrypted, patched, checking in?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59595B"/>
                </a:solidFill>
                <a:latin typeface="Open Sans"/>
              </a:rPr>
              <a:t>2. CloudBrink: agents active, device checks passing, unauthorized access attempts?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59595B"/>
                </a:solidFill>
                <a:latin typeface="Open Sans"/>
              </a:rPr>
              <a:t>These replace VDI session monitoring.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5760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EAAC8"/>
                </a:solidFill>
                <a:latin typeface="Open Sans"/>
              </a:rPr>
              <a:t>Reg S-P §248.30(a); NIST CM-8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006D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echnijian-logo-reverse-white-5000x1667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"/>
            <a:ext cx="219456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0" y="3200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Open Sans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6DB6"/>
                </a:solidFill>
                <a:latin typeface="Open Sans"/>
              </a:rPr>
              <a:t>No Duplication: Each Layer Solves A Distinct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309360"/>
            <a:ext cx="10972800" cy="9144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9595B"/>
                </a:solidFill>
                <a:latin typeface="Open Sans"/>
              </a:rPr>
              <a:t>technijian.com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3550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9595B"/>
                </a:solidFill>
                <a:latin typeface="Open Sans"/>
              </a:rPr>
              <a:t>AFFG Managed Device Strategy  |  April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solidFill>
            <a:srgbClr val="006D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8424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98424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Unique 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984248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If Removed...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04288"/>
            <a:ext cx="10972800" cy="49720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350008"/>
            <a:ext cx="2194560" cy="405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A1A2E"/>
                </a:solidFill>
                <a:latin typeface="Open Sans"/>
              </a:rPr>
              <a:t>Intune-managed laptops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350008"/>
            <a:ext cx="4114800" cy="405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9595B"/>
                </a:solidFill>
                <a:latin typeface="Open Sans"/>
              </a:rPr>
              <a:t>Encrypted, policy-enforced endpoint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350008"/>
            <a:ext cx="3840480" cy="405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9595B"/>
                </a:solidFill>
                <a:latin typeface="Open Sans"/>
              </a:rPr>
              <a:t>Personal devices, no encryption/wipe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801493"/>
            <a:ext cx="10972800" cy="497205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847213"/>
            <a:ext cx="2194560" cy="405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A1A2E"/>
                </a:solidFill>
                <a:latin typeface="Open Sans"/>
              </a:rPr>
              <a:t>Conditional Access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2847213"/>
            <a:ext cx="4114800" cy="405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9595B"/>
                </a:solidFill>
                <a:latin typeface="Open Sans"/>
              </a:rPr>
              <a:t>M365 gated to compliant devices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2847213"/>
            <a:ext cx="3840480" cy="405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9595B"/>
                </a:solidFill>
                <a:latin typeface="Open Sans"/>
              </a:rPr>
              <a:t>Personal devices access email via OWA/IMAP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298698"/>
            <a:ext cx="10972800" cy="49720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344418"/>
            <a:ext cx="2194560" cy="405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A1A2E"/>
                </a:solidFill>
                <a:latin typeface="Open Sans"/>
              </a:rPr>
              <a:t>CloudBrink ZTNA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3344418"/>
            <a:ext cx="4114800" cy="405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9595B"/>
                </a:solidFill>
                <a:latin typeface="Open Sans"/>
              </a:rPr>
              <a:t>Device-posture access, any location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3344418"/>
            <a:ext cx="3840480" cy="405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9595B"/>
                </a:solidFill>
                <a:latin typeface="Open Sans"/>
              </a:rPr>
              <a:t>IP whitelist (travel blocked) or open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795903"/>
            <a:ext cx="10972800" cy="497205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841623"/>
            <a:ext cx="2194560" cy="405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A1A2E"/>
                </a:solidFill>
                <a:latin typeface="Open Sans"/>
              </a:rPr>
              <a:t>MyAudit (endpoint DLP)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3841623"/>
            <a:ext cx="4114800" cy="405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9595B"/>
                </a:solidFill>
                <a:latin typeface="Open Sans"/>
              </a:rPr>
              <a:t>Blocks USB, download, print, clipboard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3841623"/>
            <a:ext cx="3840480" cy="405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9595B"/>
                </a:solidFill>
                <a:latin typeface="Open Sans"/>
              </a:rPr>
              <a:t>Exfiltration via USB/download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293108"/>
            <a:ext cx="10972800" cy="49720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338828"/>
            <a:ext cx="2194560" cy="405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A1A2E"/>
                </a:solidFill>
                <a:latin typeface="Open Sans"/>
              </a:rPr>
              <a:t>SSO / 2FA gateway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7520" y="4338828"/>
            <a:ext cx="4114800" cy="405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9595B"/>
                </a:solidFill>
                <a:latin typeface="Open Sans"/>
              </a:rPr>
              <a:t>MFA on custodian portals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4338828"/>
            <a:ext cx="3840480" cy="405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9595B"/>
                </a:solidFill>
                <a:latin typeface="Open Sans"/>
              </a:rPr>
              <a:t>Portal MFA unauditable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790313"/>
            <a:ext cx="10972800" cy="497205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4836033"/>
            <a:ext cx="2194560" cy="405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A1A2E"/>
                </a:solidFill>
                <a:latin typeface="Open Sans"/>
              </a:rPr>
              <a:t>Intune MDM/MAM (phones)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17520" y="4836033"/>
            <a:ext cx="4114800" cy="405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9595B"/>
                </a:solidFill>
                <a:latin typeface="Open Sans"/>
              </a:rPr>
              <a:t>Phone containerization + wipe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4836033"/>
            <a:ext cx="3840480" cy="405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9595B"/>
                </a:solidFill>
                <a:latin typeface="Open Sans"/>
              </a:rPr>
              <a:t>Phone loss exposes M365 email/files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5287518"/>
            <a:ext cx="10972800" cy="49720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5333238"/>
            <a:ext cx="2194560" cy="405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A1A2E"/>
                </a:solidFill>
                <a:latin typeface="Open Sans"/>
              </a:rPr>
              <a:t>Veeam Backup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17520" y="5333238"/>
            <a:ext cx="4114800" cy="405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9595B"/>
                </a:solidFill>
                <a:latin typeface="Open Sans"/>
              </a:rPr>
              <a:t>Immutable tenant backup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5333238"/>
            <a:ext cx="3840480" cy="405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9595B"/>
                </a:solidFill>
                <a:latin typeface="Open Sans"/>
              </a:rPr>
              <a:t>Ransomware/deletion unrecoverable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5784723"/>
            <a:ext cx="10972800" cy="497205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5830443"/>
            <a:ext cx="2194560" cy="405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A1A2E"/>
                </a:solidFill>
                <a:latin typeface="Open Sans"/>
              </a:rPr>
              <a:t>Monthly assessment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17520" y="5830443"/>
            <a:ext cx="4114800" cy="405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9595B"/>
                </a:solidFill>
                <a:latin typeface="Open Sans"/>
              </a:rPr>
              <a:t>Attested evidence of controls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0" y="5830443"/>
            <a:ext cx="3840480" cy="405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9595B"/>
                </a:solidFill>
                <a:latin typeface="Open Sans"/>
              </a:rPr>
              <a:t>Drift undetected, 3110(c) gap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006D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echnijian-logo-reverse-white-5000x1667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"/>
            <a:ext cx="219456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0" y="3200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Open Sans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6DB6"/>
                </a:solidFill>
                <a:latin typeface="Open Sans"/>
              </a:rPr>
              <a:t>What Changes From The VDI Proposal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309360"/>
            <a:ext cx="10972800" cy="9144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9595B"/>
                </a:solidFill>
                <a:latin typeface="Open Sans"/>
              </a:rPr>
              <a:t>technijian.com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3550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9595B"/>
                </a:solidFill>
                <a:latin typeface="Open Sans"/>
              </a:rPr>
              <a:t>AFFG Managed Device Strategy  |  April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993392"/>
            <a:ext cx="91440" cy="91440"/>
          </a:xfrm>
          <a:prstGeom prst="rect">
            <a:avLst/>
          </a:prstGeom>
          <a:solidFill>
            <a:srgbClr val="006D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92024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9595B"/>
                </a:solidFill>
                <a:latin typeface="Open Sans"/>
              </a:rPr>
              <a:t>VDI removed. Replaced by company-owned, Intune-managed laptops for all 9 users.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470912"/>
            <a:ext cx="91440" cy="91440"/>
          </a:xfrm>
          <a:prstGeom prst="rect">
            <a:avLst/>
          </a:prstGeom>
          <a:solidFill>
            <a:srgbClr val="1EA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39776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9595B"/>
                </a:solidFill>
                <a:latin typeface="Open Sans"/>
              </a:rPr>
              <a:t>CloudBrink ZTNA added. Replaces IP whitelist. Device-posture access from any location.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948432"/>
            <a:ext cx="91440" cy="91440"/>
          </a:xfrm>
          <a:prstGeom prst="rect">
            <a:avLst/>
          </a:prstGeom>
          <a:solidFill>
            <a:srgbClr val="F67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8752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9595B"/>
                </a:solidFill>
                <a:latin typeface="Open Sans"/>
              </a:rPr>
              <a:t>Company phones added. Intune MDM/MAM, app containerization, remote wipe for all 9 users.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425952"/>
            <a:ext cx="91440" cy="91440"/>
          </a:xfrm>
          <a:prstGeom prst="rect">
            <a:avLst/>
          </a:prstGeom>
          <a:solidFill>
            <a:srgbClr val="006D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35280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9595B"/>
                </a:solidFill>
                <a:latin typeface="Open Sans"/>
              </a:rPr>
              <a:t>Conditional Access: M365 restricted to compliant devices. Legacy auth blocked.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903472"/>
            <a:ext cx="91440" cy="91440"/>
          </a:xfrm>
          <a:prstGeom prst="rect">
            <a:avLst/>
          </a:prstGeom>
          <a:solidFill>
            <a:srgbClr val="1EA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83032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9595B"/>
                </a:solidFill>
                <a:latin typeface="Open Sans"/>
              </a:rPr>
              <a:t>MyAudit endpoint DLP retained. Same exfiltration blocks on managed laptops.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380992"/>
            <a:ext cx="91440" cy="91440"/>
          </a:xfrm>
          <a:prstGeom prst="rect">
            <a:avLst/>
          </a:prstGeom>
          <a:solidFill>
            <a:srgbClr val="F67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30784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9595B"/>
                </a:solidFill>
                <a:latin typeface="Open Sans"/>
              </a:rPr>
              <a:t>SSO/2FA gateway retained. MFA on custodian portals and non-M365 systems.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858512"/>
            <a:ext cx="91440" cy="91440"/>
          </a:xfrm>
          <a:prstGeom prst="rect">
            <a:avLst/>
          </a:prstGeom>
          <a:solidFill>
            <a:srgbClr val="006D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78536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9595B"/>
                </a:solidFill>
                <a:latin typeface="Open Sans"/>
              </a:rPr>
              <a:t>Veeam Backup retained. Full tenant backup — unchanged.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336032"/>
            <a:ext cx="91440" cy="91440"/>
          </a:xfrm>
          <a:prstGeom prst="rect">
            <a:avLst/>
          </a:prstGeom>
          <a:solidFill>
            <a:srgbClr val="1EA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2628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9595B"/>
                </a:solidFill>
                <a:latin typeface="Open Sans"/>
              </a:rPr>
              <a:t>Monthly assessment at $50/mo. Scope expanded: device fleet + CloudBrink + mobile.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5813552"/>
            <a:ext cx="91440" cy="91440"/>
          </a:xfrm>
          <a:prstGeom prst="rect">
            <a:avLst/>
          </a:prstGeom>
          <a:solidFill>
            <a:srgbClr val="F67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574040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9595B"/>
                </a:solidFill>
                <a:latin typeface="Open Sans"/>
              </a:rPr>
              <a:t>No VDI hosting cost. One-time: Intune, CloudBrink, MyAudit, phone provisioning.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echnijian-logo-reverse-white-5000x1667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457200"/>
            <a:ext cx="41148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Open Sans"/>
              </a:rPr>
              <a:t>The Bottom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017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E9ECEF"/>
                </a:solidFill>
                <a:latin typeface="Open Sans"/>
              </a:rPr>
              <a:t>Same FINRA and SEC compliance posture — without VDI. Managed devices, CloudBrink ZTNA, and Intune close every gap the VDI model closed.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4114800"/>
            <a:ext cx="91440" cy="91440"/>
          </a:xfrm>
          <a:prstGeom prst="rect">
            <a:avLst/>
          </a:prstGeom>
          <a:solidFill>
            <a:srgbClr val="1EA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0" y="40233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Open Sans"/>
              </a:rPr>
              <a:t>Same four-factor boundary: user + MFA + managed device + CloudBrink ZTNA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4572000"/>
            <a:ext cx="91440" cy="91440"/>
          </a:xfrm>
          <a:prstGeom prst="rect">
            <a:avLst/>
          </a:prstGeom>
          <a:solidFill>
            <a:srgbClr val="1EA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44805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Open Sans"/>
              </a:rPr>
              <a:t>Laptops AND phones under one Intune management umbrella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5029200"/>
            <a:ext cx="91440" cy="91440"/>
          </a:xfrm>
          <a:prstGeom prst="rect">
            <a:avLst/>
          </a:prstGeom>
          <a:solidFill>
            <a:srgbClr val="1EA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49377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Open Sans"/>
              </a:rPr>
              <a:t>Travel-ready: CloudBrink works from any network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5486400"/>
            <a:ext cx="91440" cy="91440"/>
          </a:xfrm>
          <a:prstGeom prst="rect">
            <a:avLst/>
          </a:prstGeom>
          <a:solidFill>
            <a:srgbClr val="1EA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17520" y="53949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Open Sans"/>
              </a:rPr>
              <a:t>Every control maps to a specific FINRA or SEC citation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263640"/>
            <a:ext cx="12192000" cy="73152"/>
          </a:xfrm>
          <a:prstGeom prst="rect">
            <a:avLst/>
          </a:prstGeom>
          <a:solidFill>
            <a:srgbClr val="F67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5852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EAAC8"/>
                </a:solidFill>
                <a:latin typeface="Open Sans"/>
              </a:rPr>
              <a:t>technology as a 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B"/>
                </a:solidFill>
                <a:latin typeface="Open Sans"/>
              </a:rPr>
              <a:t>Technijian  |  AFFG Managed Device Strategy  |  April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